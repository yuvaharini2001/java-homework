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83" r:id="rId2"/>
    <p:sldId id="256" r:id="rId3"/>
    <p:sldId id="257" r:id="rId4"/>
    <p:sldId id="258" r:id="rId5"/>
    <p:sldId id="259" r:id="rId6"/>
    <p:sldId id="260" r:id="rId7"/>
    <p:sldId id="261" r:id="rId8"/>
    <p:sldId id="265" r:id="rId9"/>
    <p:sldId id="266" r:id="rId10"/>
    <p:sldId id="267" r:id="rId11"/>
    <p:sldId id="268" r:id="rId12"/>
    <p:sldId id="264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BE8D7-909A-443C-8BBD-E5E9505AA97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76C12D-9492-4DFD-B1A3-B1D23F627C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39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76C12D-9492-4DFD-B1A3-B1D23F627C5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90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76C12D-9492-4DFD-B1A3-B1D23F627C5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785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76C12D-9492-4DFD-B1A3-B1D23F627C5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453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2E4AB-7E22-AA7E-79DC-07874C2B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2B5ADA-4D7B-8C00-1B0D-ED1A5ECF4E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D3041-7C35-821C-9AAC-4BD6DCFF5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0441-0D9B-4880-ACF9-71B5AE295463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B9E1A-F22A-8135-6666-3764470D1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80AD4-4DB0-BB5F-4380-60F7E2E85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BE42-A167-4279-959A-47E6C0A02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318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36262-AD98-EEF1-7D33-A1A446EC3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F44CD-B34B-A9E6-DA94-B89B4BBDF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3E689-7ADC-C74A-59B6-91BDF9269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0441-0D9B-4880-ACF9-71B5AE295463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66B36-28FC-8551-723E-A9458CB0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4E292-BBF5-4B6B-94B8-C0A50136F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BE42-A167-4279-959A-47E6C0A02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52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C1B8E-4731-8E13-7659-51411C4C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2A1EC-0885-ECF1-0CBA-7D33FC578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52139-3172-E38B-7D9C-11E9BD622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0441-0D9B-4880-ACF9-71B5AE295463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7DBC1-9907-A797-74C3-E9F2D98F4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81C73-A138-B714-FC11-23B869528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BE42-A167-4279-959A-47E6C0A02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302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A38F-D608-6EC6-BBE6-5F0AB3AC3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4BF0E-21E0-1874-D795-98DD6AE70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84F8D-C960-B31A-9EBA-C49DF7D5C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80FB7-EAD9-A4DD-693A-634C5CA4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0441-0D9B-4880-ACF9-71B5AE295463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227EB-9E81-A342-B13A-C3F68493E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CE637-6DFC-DC4A-9437-7B08E7190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BE42-A167-4279-959A-47E6C0A02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306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73ED6-3473-B499-0FF4-707B134C4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D4DF4-3DB0-B59F-7EB2-99D0B6536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B8314-0D36-C845-63D6-2AC4162B3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0AA42-D01F-F795-5016-72B6D6434F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790D11-D8AE-BEF9-7750-F5B96CA05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C8830B-F10F-3731-3670-F661B0DAD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0441-0D9B-4880-ACF9-71B5AE295463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FB2F7E-CA6A-A4D9-3523-7AE4E1BB6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F29826-07FF-4174-580A-6A3CE549F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BE42-A167-4279-959A-47E6C0A02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112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E52DC-D04B-C39D-238A-797B3745D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C66F8-7D65-1483-840F-8D6B732E6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0441-0D9B-4880-ACF9-71B5AE295463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8D4C21-A4CE-1A19-3C81-416F3A414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C53850-CA08-CBCF-48D0-28EBC622F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BE42-A167-4279-959A-47E6C0A02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771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C80BAC-F7EB-0023-2AE3-A854C28EB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0441-0D9B-4880-ACF9-71B5AE295463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6A6326-20DB-CB5C-6C87-4DE82732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7B721-D733-3BD4-B9B3-8334C3C32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BE42-A167-4279-959A-47E6C0A02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59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2A7ED-4C38-CDC5-D71F-D8361B0E1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3E2D1-D48A-4CC7-9DE3-FCAF8C8A6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15A67-D88D-5DBA-CBC4-E704AE886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B50C60-9629-EEA2-B3B2-F2CC5B601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0441-0D9B-4880-ACF9-71B5AE295463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CB555-A890-5A04-579E-BD9E6D05A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CA6EA3-2545-F47B-B8DE-28B8111FE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BE42-A167-4279-959A-47E6C0A02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19802-8247-6D4D-A665-44113FCBB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7E81B6-5998-946A-8499-2391230E6D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AE711-C65B-DEEC-83E9-6CF39AD46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4A17D-30ED-3E5F-2DF3-FEF8EE63B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0441-0D9B-4880-ACF9-71B5AE295463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B72AC-9959-FE95-57C6-55B02B1D6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474477-E6A3-23F3-121F-B005711A4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BE42-A167-4279-959A-47E6C0A02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583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721C1-2782-8D41-967F-DE54B0BC3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1A303-BD9C-9113-61D5-BFC99CACB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312A5-328C-4517-F62C-90EAFE048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0441-0D9B-4880-ACF9-71B5AE295463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919CC-DCBB-BBB7-5055-56316EE41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66BEA-2019-D627-E7D1-3E4C48677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BE42-A167-4279-959A-47E6C0A02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68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8014B9-89A4-A29A-1650-9B037DEBBD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97F108-E6D6-AD70-5723-47BD3F14B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5C78C-30C9-6772-604B-91EDBD99C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0441-0D9B-4880-ACF9-71B5AE295463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816CE-F389-6F06-785B-3863F7BD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2CBCA-6FE3-F494-41EB-1D20EB734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BE42-A167-4279-959A-47E6C0A02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040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D290B6-6A9F-36F3-BFC2-6B7319DAB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41382-C374-98D4-EB3A-91D6FC22B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A213A-82A1-A26B-82D1-0F3ED012F3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450441-0D9B-4880-ACF9-71B5AE295463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03E22-8ABD-B776-8631-BF920B4087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A850D-92B2-A6F3-58B4-F09992E728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FFBE42-A167-4279-959A-47E6C0A02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168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EBB680-11DC-BEBF-E12F-B5DB313B9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471" y="443910"/>
            <a:ext cx="11670890" cy="3292347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Name : Edu Stream Operations</a:t>
            </a:r>
          </a:p>
          <a:p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 Title : College Management</a:t>
            </a:r>
          </a:p>
          <a:p>
            <a:b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Domain : Education Technology (EdTech) &amp; ERP System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46F7525-0DE6-B61B-ADC4-369C67DD2D73}"/>
              </a:ext>
            </a:extLst>
          </p:cNvPr>
          <p:cNvSpPr txBox="1">
            <a:spLocks/>
          </p:cNvSpPr>
          <p:nvPr/>
        </p:nvSpPr>
        <p:spPr>
          <a:xfrm>
            <a:off x="4301611" y="4470221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By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Yuva Harini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MagizhchiTech Academy</a:t>
            </a:r>
          </a:p>
        </p:txBody>
      </p:sp>
    </p:spTree>
    <p:extLst>
      <p:ext uri="{BB962C8B-B14F-4D97-AF65-F5344CB8AC3E}">
        <p14:creationId xmlns:p14="http://schemas.microsoft.com/office/powerpoint/2010/main" val="1863305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785F8-D45C-762D-329F-89C104891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471795"/>
            <a:ext cx="5157787" cy="823912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7AAD41-001D-0449-6D8F-3A28677D0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1492353"/>
            <a:ext cx="5157787" cy="368458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School Graduates: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Students seeking UG degrees.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Post-Graduates: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Students seeking Master's degrees.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Adults: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Professionals looking for part-time/distance.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3681A0-BAEA-7824-F8EB-3F6099FA95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471795"/>
            <a:ext cx="5183188" cy="823912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Propositions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EC2B8A-38FF-BB6D-8F47-021EA9CA7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1492353"/>
            <a:ext cx="5183188" cy="439717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Recognized Degrees:  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Certified diplomas and degrees for careers.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Placements: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Direct access to hiring companies.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Building:              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Practical training in IT, Labs, and Soft Skills.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Campus Experience: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Networking, sports, and holistic growth.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C89DD01-4C71-C065-D0B2-EF506C54002C}"/>
              </a:ext>
            </a:extLst>
          </p:cNvPr>
          <p:cNvSpPr txBox="1">
            <a:spLocks/>
          </p:cNvSpPr>
          <p:nvPr/>
        </p:nvSpPr>
        <p:spPr>
          <a:xfrm>
            <a:off x="2909479" y="-136807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Model Canvas</a:t>
            </a:r>
          </a:p>
        </p:txBody>
      </p:sp>
    </p:spTree>
    <p:extLst>
      <p:ext uri="{BB962C8B-B14F-4D97-AF65-F5344CB8AC3E}">
        <p14:creationId xmlns:p14="http://schemas.microsoft.com/office/powerpoint/2010/main" val="226732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3F3AC-71A0-A9C0-9D66-021801EEB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540621"/>
            <a:ext cx="5157787" cy="823912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Activities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33030-F768-B552-1B7E-DF643CD39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1586706"/>
            <a:ext cx="3810859" cy="4499462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Delivery: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Lectures, labs, and research.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Curriculum Design: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Updating courses to match industry needs.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&amp; Admissions: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Recruiting new students.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Services: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Training students for interviews.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F10FF3-DAAF-54F3-C5B4-40B0AAEBE9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50646" y="540621"/>
            <a:ext cx="5183188" cy="823912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Resources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4B561-E5FF-E0E9-9202-E9A7D76023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50646" y="1586706"/>
            <a:ext cx="3053607" cy="3684588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Qualified Faculty: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Experienced teachers and professors.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Classrooms, libraries, hostels, and labs.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Reputation: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college name and history.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E1BEAA6-A7C2-4F04-55C5-8C7150E7DA75}"/>
              </a:ext>
            </a:extLst>
          </p:cNvPr>
          <p:cNvSpPr txBox="1">
            <a:spLocks/>
          </p:cNvSpPr>
          <p:nvPr/>
        </p:nvSpPr>
        <p:spPr>
          <a:xfrm>
            <a:off x="8232752" y="540621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Partners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43004731-A186-914A-527E-5F08BC29115D}"/>
              </a:ext>
            </a:extLst>
          </p:cNvPr>
          <p:cNvSpPr txBox="1">
            <a:spLocks/>
          </p:cNvSpPr>
          <p:nvPr/>
        </p:nvSpPr>
        <p:spPr>
          <a:xfrm>
            <a:off x="8232752" y="1586705"/>
            <a:ext cx="3772435" cy="5099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Board: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syllabus &amp; degree approvals.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Corporates/Firms: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campus placements &amp; internships.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Govt. Bodies: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For licensing, grants, and regulation.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Partners: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Providers of LMS (Canvas/Google) &amp; Wi-Fi.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631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BF467-5729-957A-2B71-3BA7DF0A6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452131"/>
            <a:ext cx="5157787" cy="823912"/>
          </a:xfrm>
        </p:spPr>
        <p:txBody>
          <a:bodyPr/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Channels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A6037-EDC9-60C6-14AA-CC378BF90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1453023"/>
            <a:ext cx="5157787" cy="368458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Website:    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Primary info and application hub.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Media:        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Instagram, LinkedIn, and YouTube ads.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Outreach: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School visits and career counseling fairs.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96BAA8-5BD5-33F2-642B-E9440A94C3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5" y="452131"/>
            <a:ext cx="5183188" cy="823912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Relationships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5D7019-E397-76AB-8D84-2B5C48737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5" y="1453023"/>
            <a:ext cx="5183188" cy="368458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Mentorship: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One-on-one faculty guidance.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Classroom Interaction: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Direct face-to-face teaching.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Alumni Engagement: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Long-term networking with old students.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Portals: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Self-service for grades and fees.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625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9E11D-ADF8-1D67-4148-2152EF256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481628"/>
            <a:ext cx="5157787" cy="823912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Streams (Income)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AC532-26AA-1ED6-9184-21A5E73D9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512017"/>
            <a:ext cx="5157787" cy="3684588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Tuition Fees: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Primary revenue from semester/annual student fees.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Auxiliary Services: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Income from Hostels, Mess/Canteen, and Transport.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Courses: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Fees from certificate programs and workshops.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Fees: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Revenue from new student registration forms.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AAB38F-2945-546D-5EEC-A4632E6EDC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481628"/>
            <a:ext cx="5183188" cy="823912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Structure (Expenses)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9B8279-B3A7-D2D6-58C4-BC830A5A69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1512017"/>
            <a:ext cx="5183188" cy="3684588"/>
          </a:xfrm>
        </p:spPr>
        <p:txBody>
          <a:bodyPr>
            <a:normAutofit fontScale="92500" lnSpcReduction="20000"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Resources: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Salaries for teaching and non-teaching staff.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Operations:                              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Electricity, water, Wi-Fi, and building maintenance.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Costs for advertisements, brochures, and events.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&amp; Development:                 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Investment in new labs and library books.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206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95713-6160-1C17-87ED-05ACF09E0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682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47C0F-7202-19BB-47D0-BD628958E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820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Attracts prospective students via ads and social media.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Passes leads to Sales/Admissions.</a:t>
            </a:r>
          </a:p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Sales(Admissions)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inquiries, counseling, and enrollment.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Moves student data to Operations.</a:t>
            </a:r>
          </a:p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classes, exams, and faculty.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Coordinates with HR for teachers.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3613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A5EF3-0827-4E66-6869-9359994EC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3458"/>
            <a:ext cx="10515600" cy="57125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daily cash, student fees, and vendor bills.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Feeds data to Finance.</a:t>
            </a:r>
          </a:p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planning, budgeting, and long-term investments.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to Management.</a:t>
            </a:r>
          </a:p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Recruitment of faculty/staff and payroll.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all departments with manpower.</a:t>
            </a:r>
          </a:p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Leadership, policy making, and growth strategy.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Oversees all functions.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7389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A98D4-BC22-4B2C-0447-FF7FC7CF2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531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Departments and Deep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FDFC0-62CC-28C1-04CE-7780759B3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1" y="992596"/>
            <a:ext cx="11602063" cy="564417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</a:t>
            </a:r>
            <a:r>
              <a:rPr lang="en-IN" sz="3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Objective:</a:t>
            </a: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the college brand and get "leads" (prospective students).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Activities: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Marketing: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Running Instagram, Facebook, and LinkedIn ads targeted at students.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Branding: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Putting up billboards, visiting schools, and conducting education fairs.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Creation: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Managing the website and success stories of alumni.</a:t>
            </a:r>
          </a:p>
          <a:p>
            <a:pPr marL="0" indent="0" algn="ctr">
              <a:buNone/>
            </a:pP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/ Admissions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Objective:</a:t>
            </a:r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convert a "student" into a "registered student.“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Activities: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Counseling: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Explaining course benefits, career paths, and placements to parents and students.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Verifying marksheet, identity proofs, and eligibility.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Follow-ups: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Calling leads who visited the campus but haven't joined yet.</a:t>
            </a: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691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82065-5E56-A3C4-DE7A-6EFDA7389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303" y="324465"/>
            <a:ext cx="11651225" cy="618448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lang="en-IN" sz="3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Objective:</a:t>
            </a:r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Delivering the actual product (Education) smoothly.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Activities: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Planning: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Creating the syllabus, timetable, and exam schedules.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Managing classrooms, labs, libraries, and hostels.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 Cell: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Connecting students with companies for jobs.</a:t>
            </a:r>
          </a:p>
          <a:p>
            <a:pPr marL="0" indent="0" algn="ctr">
              <a:buNone/>
            </a:pPr>
            <a:r>
              <a:rPr lang="en-I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 - Human Resources</a:t>
            </a:r>
            <a:r>
              <a:rPr lang="en-IN" sz="3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Objective:</a:t>
            </a:r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and keeping the best faculty and staff.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Activities: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Recruitment: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Hiring PhD professors or industry experts. 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Faculty Development Programs (FDP) to keep teachers updated. 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Culture &amp; Payroll: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Managing staff attendance, leaves, and salary processing.</a:t>
            </a:r>
          </a:p>
        </p:txBody>
      </p:sp>
    </p:spTree>
    <p:extLst>
      <p:ext uri="{BB962C8B-B14F-4D97-AF65-F5344CB8AC3E}">
        <p14:creationId xmlns:p14="http://schemas.microsoft.com/office/powerpoint/2010/main" val="2477564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39FA8-11EF-05BC-57DC-BF42D1302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350785"/>
            <a:ext cx="11572567" cy="6079511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Accounts (The Cashier)</a:t>
            </a:r>
            <a:r>
              <a:rPr lang="en-IN" sz="3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Objective:</a:t>
            </a:r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the day-to-day money flow (Bookkeeping).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Activities: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 Collection: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Sending reminders and collecting tuition/hostel fees.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Expense Management: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Paying electricity bills, maintenance costs, and vendor payments.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Prep: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Maintaining clear records of every single Rupee spent.</a:t>
            </a:r>
          </a:p>
          <a:p>
            <a:pPr marL="0" indent="0" algn="ctr">
              <a:buNone/>
            </a:pPr>
            <a:r>
              <a:rPr lang="en-I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Objective:</a:t>
            </a:r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long-term wealth and expansion.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Activities: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Allocating money for next year's new lab or building. 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Deciding where to put the college surplus funds.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 Analysis: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Checking if a specific course is making money or losing it.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822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2670D-6EE8-D973-D2BC-FAA8C7DC8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9" y="370450"/>
            <a:ext cx="11621728" cy="610900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Objective:</a:t>
            </a:r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and Vision setting.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Activities: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Making: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Setting rules for discipline, scholarship, and ethics.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Ensuring the college meets UGC, AICTE, or University norms.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Expansion: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Deciding on new branches or international tie-ups. 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&amp; Sales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bring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brings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brings them together in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Classroom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that fee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watches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Whole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132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40C05-F79E-3E52-EF70-399717973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8865"/>
            <a:ext cx="10515600" cy="476777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&amp; Sales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your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Generators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(Bringing money in).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&amp; HR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your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Providers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(Teaching the students).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Accounts &amp; Finance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your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Guardians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(Managing the money).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Captain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(Directing the ship).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DF024FE-8839-A361-3108-65CA127DE702}"/>
              </a:ext>
            </a:extLst>
          </p:cNvPr>
          <p:cNvSpPr txBox="1">
            <a:spLocks/>
          </p:cNvSpPr>
          <p:nvPr/>
        </p:nvSpPr>
        <p:spPr>
          <a:xfrm>
            <a:off x="838200" y="448238"/>
            <a:ext cx="10515600" cy="790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Strategic Business Architecture of a College</a:t>
            </a:r>
            <a:endParaRPr lang="en-IN" sz="36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159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7633-A27A-FCB0-6489-EFA6730E2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514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Analyst (Screen and Data Flow)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4CC9F-B832-5DB4-AE64-80158DC82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465" y="970219"/>
            <a:ext cx="11552903" cy="5479742"/>
          </a:xfrm>
        </p:spPr>
        <p:txBody>
          <a:bodyPr/>
          <a:lstStyle/>
          <a:p>
            <a:pPr marL="0" indent="0" algn="ctr">
              <a:buNone/>
            </a:pPr>
            <a:r>
              <a:rPr lang="en-IN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 Name 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Dashboard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Data Fields (Input/Display)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Student Name, Source (FB/Insta), Phone No, Interest Level.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Components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Charts (Source), Search Bar, Lead Status Cards.</a:t>
            </a:r>
          </a:p>
          <a:p>
            <a:pPr marL="0" indent="0" algn="ctr">
              <a:buNone/>
            </a:pPr>
            <a:r>
              <a:rPr lang="en-IN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(Admissions)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 Name 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Enquiry &amp; Enrolment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Data Fields 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ID, Course Selected, Documents Upload, Follow-up Date.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Components 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Upload Button, Dropdown Menu (Courses), Date Picker.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5185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3F6AB-47CB-8CCC-A5CA-DD4AF9067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297" y="311457"/>
            <a:ext cx="11533237" cy="6197498"/>
          </a:xfrm>
        </p:spPr>
        <p:txBody>
          <a:bodyPr/>
          <a:lstStyle/>
          <a:p>
            <a:pPr marL="0" indent="0" algn="ctr">
              <a:buNone/>
            </a:pPr>
            <a:r>
              <a:rPr lang="en-IN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IN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 Name 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Planner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Data Fields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Timetable, Faculty Name, Classroom No, Syllabus Coverage %.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Components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Calendar View, Progress Bars, Data Tables (Attendance).</a:t>
            </a:r>
          </a:p>
          <a:p>
            <a:pPr marL="0" indent="0" algn="ctr">
              <a:buNone/>
            </a:pPr>
            <a:r>
              <a:rPr lang="en-IN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Accounts</a:t>
            </a:r>
            <a:endParaRPr lang="en-IN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 Name 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 Management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Data Fields 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Receipt No, Total Fee, Paid Amount, Pending Balance.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Components 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Color-coded Labels (Paid/Pending), "Generate Invoice" Button.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0700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17CCA-E10E-8A92-4CF7-6A907E6C7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321289"/>
            <a:ext cx="11720051" cy="6266323"/>
          </a:xfrm>
        </p:spPr>
        <p:txBody>
          <a:bodyPr/>
          <a:lstStyle/>
          <a:p>
            <a:pPr marL="0" indent="0" algn="ctr">
              <a:buNone/>
            </a:pPr>
            <a:r>
              <a:rPr lang="en-IN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  <a:endParaRPr lang="en-IN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 Name 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 Directory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Data Fields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Faculty ID, Specialization, Payroll Status, Leave Balance.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Components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Profile Cards, Toggle Switch (Active/Inactive).</a:t>
            </a:r>
          </a:p>
          <a:p>
            <a:pPr marL="0" indent="0" algn="ctr">
              <a:buNone/>
            </a:pPr>
            <a:r>
              <a:rPr lang="en-IN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endParaRPr lang="en-IN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 Name 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Data Fields 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Admissions vs Target, Overall Pass %, Total Cash Flow.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Components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Dashboard with Big Value Tiles (KPIs), Speedometer Gauges.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834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B5387-C1F1-2AFB-1E80-6B3D2EDC7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272129"/>
            <a:ext cx="11533238" cy="6256490"/>
          </a:xfrm>
        </p:spPr>
        <p:txBody>
          <a:bodyPr/>
          <a:lstStyle/>
          <a:p>
            <a:pPr marL="0" indent="0" algn="ctr">
              <a:buNone/>
            </a:pPr>
            <a:r>
              <a:rPr lang="en-IN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Finance</a:t>
            </a:r>
            <a:endParaRPr lang="en-IN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 Name 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Reports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Data Fields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Revenue, Expense Categories, Profit Margin, ROI.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Components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Graphs (Trend), Export PDF/Excel Buttons.</a:t>
            </a:r>
          </a:p>
          <a:p>
            <a:pPr marL="0" indent="0">
              <a:buNone/>
            </a:pPr>
            <a:r>
              <a:rPr lang="en-IN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Analyst Flow </a:t>
            </a:r>
            <a:endParaRPr lang="en-IN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Screen (Marketing/Sales):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the data comes inside the system</a:t>
            </a:r>
          </a:p>
          <a:p>
            <a:pPr lvl="1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Database: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Here all the data stores</a:t>
            </a:r>
          </a:p>
          <a:p>
            <a:pPr lvl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Screens (Ops/Accounts/HR):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the daily based work will be done</a:t>
            </a:r>
          </a:p>
          <a:p>
            <a:pPr lvl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 (Finance/Management):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Here the report will be displayed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511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E0CA4-2695-6D23-EE38-3006964D4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531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855D5-3E08-641B-8903-872AE385B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921056"/>
            <a:ext cx="11602065" cy="55485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Components (How data enters)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Admissions and HR hiring.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Integration: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pull leads directly from Facebook/Google ads into the Marketing screen.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 Components (How data moves)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Workflows: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enrolment status changed to “Paid”, data will automatically move to Operations and "Roll Number" will be generated.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Alerts/Notifications: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fee remains pending Accounts screen will change to red color to highlight it.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Reporting Components (How data is seen)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Drill-down Tables: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management summary, click any department, the full details of the department will open.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Tools: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Accounts and Finance CSV/Tally data exporting format option needed.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512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2911C-FFF7-4FF5-6C19-F0A77E08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7327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Department-Wise Screen Components &amp; Data Symbols</a:t>
            </a:r>
            <a:b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EDBC4-A8D0-698D-777C-B6290026B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1" y="832567"/>
            <a:ext cx="11641393" cy="5745214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IN" sz="30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 Screen (Lead Capture)</a:t>
            </a:r>
          </a:p>
          <a:p>
            <a:pPr marL="0" indent="0">
              <a:buNone/>
            </a:pPr>
            <a:r>
              <a:rPr lang="en-IN" sz="2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Name, Interest (Engineering/Arts).</a:t>
            </a:r>
          </a:p>
          <a:p>
            <a:pPr marL="0" indent="0">
              <a:buNone/>
            </a:pPr>
            <a:r>
              <a:rPr lang="en-IN" sz="2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&amp; Symbol: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Text Field ([____])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For Name input.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Radio Buttons ((•) ( ))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For Gender or "Yes/No" questions.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Source Icon (🔗)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Symbol for Social Media or Website link.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 Logic:</a:t>
            </a:r>
            <a:r>
              <a:rPr lang="en-US" sz="26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must be captured without errors (Validation).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0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Sales/Admissions Screen (The Enrollment Form)</a:t>
            </a:r>
            <a:r>
              <a:rPr lang="en-US" sz="3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of Birth, Course Selection, Marks percentage.</a:t>
            </a:r>
          </a:p>
          <a:p>
            <a:pPr marL="0" indent="0">
              <a:buNone/>
            </a:pPr>
            <a:r>
              <a:rPr lang="en-IN" sz="2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&amp; Symbol: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Date Picker (📅)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select DOB (Prevents manual typing errors).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Dropdown Menu ([ Select 🔽 ])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pick a Department/Course.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File Upload (📤)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Symbol for uploading 10th/12th Marksheets (PDF/JPG).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 Logic: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document must have a "Verification Status" (Tick/Cross symbol).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876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22AF7-CCAC-2F56-EB7F-B90F59D90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281960"/>
            <a:ext cx="11631560" cy="6256492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 Screen (The Timetable &amp; Attendance)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Faculty Name, Room Number, Attendance Status.</a:t>
            </a:r>
          </a:p>
          <a:p>
            <a:pPr marL="0" indent="0">
              <a:buNone/>
            </a:pPr>
            <a:r>
              <a:rPr lang="en-IN" sz="2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&amp; Symbol: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Data Table (▤)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grid showing Student Names vs Dates.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Progress Bar ([■■■□□])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Shows how much syllabus is completed.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Toggle Switch (🔘---)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For Present/Absent (Fast for teachers to use).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 Logic: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Operations need real-time data sync.</a:t>
            </a:r>
          </a:p>
          <a:p>
            <a:pPr marL="0" indent="0" algn="ctr">
              <a:buNone/>
            </a:pPr>
            <a:r>
              <a:rPr lang="en-US" sz="3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Accounts Screen (The Payment Portal)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Fees, Discount/Scholarship, Balance.</a:t>
            </a:r>
          </a:p>
          <a:p>
            <a:pPr marL="0" indent="0">
              <a:buNone/>
            </a:pPr>
            <a:r>
              <a:rPr lang="en-IN" sz="2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&amp; Symbol: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Currency Symbol (₹ / $)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Clearly showing the amount.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Badge/Label ([ PAID ] or [ DUE ])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Color-coded (Green for Paid, Red for Due).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Action Button ([ 🧾 Print Receipt ])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generate PDF.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 Logic: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"Read-only" fields for previous payments so nobody can fake the data.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010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7D130-F640-838B-B0A9-EDF5971B6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975" y="232798"/>
            <a:ext cx="11670890" cy="631548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IN" sz="3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 Screen (Staff Management)</a:t>
            </a:r>
            <a:endParaRPr lang="en-US" sz="30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ID, Experience, Salary.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&amp; Symbol: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Avatar/Profile Picture (👤)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Symbol for the teacher's photo.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Search Bar (🔍)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find a specific staff member quickly.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Tooltips (ⓘ)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Hovering over an icon to see salary breakdown.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 Logic: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Privacy is key; only HR and Management can see salary components.</a:t>
            </a:r>
          </a:p>
          <a:p>
            <a:pPr marL="0" indent="0" algn="ctr">
              <a:buNone/>
            </a:pPr>
            <a:r>
              <a:rPr lang="en-US" sz="3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 Screen (The High-Level Dashboard)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vs Expenditure, Admission Trends.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&amp; Symbol: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Pie Chart (⭕)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show the percentage of students in each department.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Line Graph (📈)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show if admissions are increasing year by year.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KPI Cards (🗂️)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Big boxes showing "Total Students: 5000".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 Logic: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raw data here; only "Aggregated Data" (Summaries).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4210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5D2CA-7185-AAAB-CC69-E6FAC8E5B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311458"/>
            <a:ext cx="11661058" cy="625649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Finance Department (The Strategic Planner)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Budget Allocation, Actual Spending, Profitability, and ROI (Return on Investment).</a:t>
            </a:r>
          </a:p>
          <a:p>
            <a:pPr marL="0" indent="0">
              <a:buNone/>
            </a:pPr>
            <a:r>
              <a:rPr lang="en-IN" sz="2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&amp; Symbol: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Donut Chart (⭕):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show Budget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(How the total money is split between Salaries, Maintenance, and Marketing).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Clustered Bar Chart (📊):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show Budget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vs. Actual Spend (Comparing how much was planned to be spent vs. how much was actually spent).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Trend Area Chart (📉):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show Revenue Projections (Predicting how much fee income will come in over the next 6 months).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Speedometer Gauge (🏎️):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show Liquidity Ratio (A quick look to see if the college has enough "Active Cash" to pay immediate bills).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KPI Cards (🗂️):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Large summary boxes showing: 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"Total Surplus: ₹2 Crores“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"Outstanding Fees: ₹50 Lakhs“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 Logic: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"Variance Analysis Focus" – The system doesn't just show numbers; it highlights the Difference (Variance) between what was budgeted and what was spent. If any department overspends, the Finance Screen triggers an automatic Alert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(⚠️).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6152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BE39D23-6377-0F73-AB7B-90F2E4CFAF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9069055"/>
              </p:ext>
            </p:extLst>
          </p:nvPr>
        </p:nvGraphicFramePr>
        <p:xfrm>
          <a:off x="344129" y="545255"/>
          <a:ext cx="11030005" cy="5953868"/>
        </p:xfrm>
        <a:graphic>
          <a:graphicData uri="http://schemas.openxmlformats.org/drawingml/2006/table">
            <a:tbl>
              <a:tblPr/>
              <a:tblGrid>
                <a:gridCol w="2409571">
                  <a:extLst>
                    <a:ext uri="{9D8B030D-6E8A-4147-A177-3AD203B41FA5}">
                      <a16:colId xmlns:a16="http://schemas.microsoft.com/office/drawing/2014/main" val="4169892139"/>
                    </a:ext>
                  </a:extLst>
                </a:gridCol>
                <a:gridCol w="2873478">
                  <a:extLst>
                    <a:ext uri="{9D8B030D-6E8A-4147-A177-3AD203B41FA5}">
                      <a16:colId xmlns:a16="http://schemas.microsoft.com/office/drawing/2014/main" val="2267821093"/>
                    </a:ext>
                  </a:extLst>
                </a:gridCol>
                <a:gridCol w="2873478">
                  <a:extLst>
                    <a:ext uri="{9D8B030D-6E8A-4147-A177-3AD203B41FA5}">
                      <a16:colId xmlns:a16="http://schemas.microsoft.com/office/drawing/2014/main" val="1920751504"/>
                    </a:ext>
                  </a:extLst>
                </a:gridCol>
                <a:gridCol w="2873478">
                  <a:extLst>
                    <a:ext uri="{9D8B030D-6E8A-4147-A177-3AD203B41FA5}">
                      <a16:colId xmlns:a16="http://schemas.microsoft.com/office/drawing/2014/main" val="3688123598"/>
                    </a:ext>
                  </a:extLst>
                </a:gridCol>
              </a:tblGrid>
              <a:tr h="793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 Component Name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 Symbol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Reasoning 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969670"/>
                  </a:ext>
                </a:extLst>
              </a:tr>
              <a:tr h="793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 Text (Name/ID)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Input Box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 </a:t>
                      </a:r>
                      <a:r>
                        <a:rPr lang="en-IN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Abc</a:t>
                      </a:r>
                      <a:r>
                        <a:rPr lang="en-IN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]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entry.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9965638"/>
                  </a:ext>
                </a:extLst>
              </a:tr>
              <a:tr h="1389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Options (Dept)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Dropdown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 v ]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Prevents spelling mistakes.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439969"/>
                  </a:ext>
                </a:extLst>
              </a:tr>
              <a:tr h="793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Text (Address)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Area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 ... ]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Allows multiple lines.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99808"/>
                  </a:ext>
                </a:extLst>
              </a:tr>
              <a:tr h="793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Choice (Bus/No)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Checkbox / Toggle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[x] / ( )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On/Off logic.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597855"/>
                  </a:ext>
                </a:extLst>
              </a:tr>
              <a:tr h="1389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 Data (Trends)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Charts / Graphs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📊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for Management to decide.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9041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41550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7BAF-1020-A6D0-4C5E-E712C28EB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74" y="-22481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For the Flow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390EA-9524-20B7-71D5-E0444FA81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1" y="881728"/>
            <a:ext cx="11611897" cy="5578065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Lead (Marketing Screen)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Action: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Rahul sees an Instagram ad and clicks "Apply Now."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Screen: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 Capture Form.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&amp; Components: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Rahul ([ Text Box ])</a:t>
            </a:r>
          </a:p>
          <a:p>
            <a:pPr lvl="1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Number: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9876543210 ([ Numeric Input ])</a:t>
            </a:r>
          </a:p>
          <a:p>
            <a:pPr lvl="1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Source: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Instagram ([ Hidden Tag 🏷️ ])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Logic: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automatically assigns a Lead ID: L-101.</a:t>
            </a:r>
          </a:p>
          <a:p>
            <a:pPr marL="0" indent="0" algn="ctr">
              <a:buNone/>
            </a:pPr>
            <a:r>
              <a:rPr lang="en-IN" sz="3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Conversion (Sales/Admissions Screen)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Action: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counsellor calls Rahul. He decides to join B.Tech.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Screen: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Enrolment Portal.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&amp; Components: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Selection: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 ([ Dropdown 🔽 ])</a:t>
            </a:r>
          </a:p>
          <a:p>
            <a:pPr lvl="1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No.10, Chennai... ([ Text Area 📝 ])</a:t>
            </a:r>
          </a:p>
          <a:p>
            <a:pPr lvl="1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12th Marksheet: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Rahul_Marks.pdf ([ File Upload 📤 ])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Logic: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Once the counsellor clicks "Submit" the Lead ID (L-101) converts into a Student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 S-2026-001.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62055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66294-0CC7-3857-0A70-F3E64778B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1" y="242631"/>
            <a:ext cx="11700387" cy="633515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Financial Entry (Accounts Screen)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Action: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Rahul pays his first-semester fee of ₹50,000.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Screen: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Fee Payment Module.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&amp; Components: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Mode: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UPI/Card ([ Radio Buttons (•) ])</a:t>
            </a:r>
          </a:p>
          <a:p>
            <a:pPr lvl="1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ID: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TXN9988 ([ Read-only Field ])</a:t>
            </a:r>
          </a:p>
          <a:p>
            <a:pPr lvl="1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Paid ([ Green Badge ✅ ])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Logic: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Accounts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sends a trigger to the Operations System to "Unlock" Rahul's profile for classes.</a:t>
            </a:r>
          </a:p>
          <a:p>
            <a:pPr marL="0" indent="0" algn="ctr">
              <a:buNone/>
            </a:pPr>
            <a:r>
              <a:rPr lang="en-US" sz="3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Daily Routine (Operations Screen)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Action: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Rahul starts attending classes. The HOD assigns him to Section A.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Screen: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Academic Management Dashboard.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&amp; Components: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 ([ Toggle Switch 🔘 ])</a:t>
            </a:r>
          </a:p>
          <a:p>
            <a:pPr lvl="1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Timetable: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Monday 9 AM ([ Calendar View 📅 ])</a:t>
            </a:r>
          </a:p>
          <a:p>
            <a:pPr lvl="1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Dr. Smith ([ Profile Link 👤 ])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Logic: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Rahul’s ID is now linked to Faculty ID: F-500 and Room No: R-101.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85367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1BA26-A463-DAB4-C626-D5F7A3B85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61" y="321289"/>
            <a:ext cx="11503741" cy="6197497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Resource Management (HR Screen)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Action: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admissions increased (including Rahul), the college hires a new Professor.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Screen: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Recruitment &amp; Payroll Screen.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&amp; Components: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 Workload: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18 Hours/Week ([ Progress Bar ■■■□ ])</a:t>
            </a:r>
          </a:p>
          <a:p>
            <a:pPr lvl="1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Structure: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Basic + HRA ([ Data Table ▤ ])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Logic: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HR ensures the faculty-to-student ratio is maintained (e.g., 1:20).</a:t>
            </a:r>
          </a:p>
          <a:p>
            <a:pPr marL="0" indent="0" algn="ctr">
              <a:buNone/>
            </a:pPr>
            <a:r>
              <a:rPr lang="en-US" sz="3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Big Picture (Management/Finance Screen)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Action: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Principal checks if the college is profitable this month.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Screen: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Executive Decision Dashboard.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&amp; Components: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Growth: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15% Increase ([ Line Graph 📈 ])</a:t>
            </a:r>
          </a:p>
          <a:p>
            <a:pPr lvl="1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Admission Ratio: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80% Full ([ Pie Chart ⭕ ])</a:t>
            </a:r>
          </a:p>
          <a:p>
            <a:pPr lvl="1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Collection: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₹5 Crores ([ KPI Card 🗂️ ])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Logic: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Management sees Rahul’s ₹50,000 as part of the total "Success Metric."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71941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FFF7ECF-4CE7-6E63-7671-D98CBFEC16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9651082"/>
              </p:ext>
            </p:extLst>
          </p:nvPr>
        </p:nvGraphicFramePr>
        <p:xfrm>
          <a:off x="206477" y="301625"/>
          <a:ext cx="11720052" cy="6462392"/>
        </p:xfrm>
        <a:graphic>
          <a:graphicData uri="http://schemas.openxmlformats.org/drawingml/2006/table">
            <a:tbl>
              <a:tblPr/>
              <a:tblGrid>
                <a:gridCol w="2930013">
                  <a:extLst>
                    <a:ext uri="{9D8B030D-6E8A-4147-A177-3AD203B41FA5}">
                      <a16:colId xmlns:a16="http://schemas.microsoft.com/office/drawing/2014/main" val="2682232102"/>
                    </a:ext>
                  </a:extLst>
                </a:gridCol>
                <a:gridCol w="2930013">
                  <a:extLst>
                    <a:ext uri="{9D8B030D-6E8A-4147-A177-3AD203B41FA5}">
                      <a16:colId xmlns:a16="http://schemas.microsoft.com/office/drawing/2014/main" val="3826065192"/>
                    </a:ext>
                  </a:extLst>
                </a:gridCol>
                <a:gridCol w="2930013">
                  <a:extLst>
                    <a:ext uri="{9D8B030D-6E8A-4147-A177-3AD203B41FA5}">
                      <a16:colId xmlns:a16="http://schemas.microsoft.com/office/drawing/2014/main" val="973253470"/>
                    </a:ext>
                  </a:extLst>
                </a:gridCol>
                <a:gridCol w="2930013">
                  <a:extLst>
                    <a:ext uri="{9D8B030D-6E8A-4147-A177-3AD203B41FA5}">
                      <a16:colId xmlns:a16="http://schemas.microsoft.com/office/drawing/2014/main" val="4038671316"/>
                    </a:ext>
                  </a:extLst>
                </a:gridCol>
              </a:tblGrid>
              <a:tr h="4074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Field (Input/Display)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 Component Name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 Symbol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Reasoning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414021"/>
                  </a:ext>
                </a:extLst>
              </a:tr>
              <a:tr h="756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Annual Budget Allocation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Field with Currency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 $ / ₹ _______ ]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Allows the Finance Team to set and enter specific budgets for each department.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47225"/>
                  </a:ext>
                </a:extLst>
              </a:tr>
              <a:tr h="931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 Wise Spend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Donut Chart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⭕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Visualizes which department is consuming the highest percentage of the total budget.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15826"/>
                  </a:ext>
                </a:extLst>
              </a:tr>
              <a:tr h="756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 vs. Expense Trend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 Graph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📈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Monitors the college's "Profitability" and financial health over a specific period.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647950"/>
                  </a:ext>
                </a:extLst>
              </a:tr>
              <a:tr h="756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Fee Collection Forecast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 Area Chart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📉 (shaded)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historical data to predict how much fee revenue will be collected in the next 3 months.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920738"/>
                  </a:ext>
                </a:extLst>
              </a:tr>
              <a:tr h="756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Operational Liquidity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Gauge / Speedometer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🏎️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Instant visual check to see if the college has enough "Ready Cash" to pay salaries and bills.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032441"/>
                  </a:ext>
                </a:extLst>
              </a:tr>
              <a:tr h="931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ROI on Campaigns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Comparison Table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▤ vs ▤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Calculates the ratio between Marketing spend and the actual number of student admissions gained.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497570"/>
                  </a:ext>
                </a:extLst>
              </a:tr>
              <a:tr h="931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Tax &amp; Audit Compliance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 Badge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 Verified ✅ ]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Tracks whether the institution is following government tax regulations and audit rules.</a:t>
                      </a:r>
                    </a:p>
                  </a:txBody>
                  <a:tcPr marL="58203" marR="58203" marT="29102" marB="291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189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7156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2925</Words>
  <Application>Microsoft Office PowerPoint</Application>
  <PresentationFormat>Widescreen</PresentationFormat>
  <Paragraphs>326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Business Analyst</vt:lpstr>
      <vt:lpstr>PowerPoint Presentation</vt:lpstr>
      <vt:lpstr>Departments and Deep Explanation</vt:lpstr>
      <vt:lpstr>PowerPoint Presentation</vt:lpstr>
      <vt:lpstr>PowerPoint Presentation</vt:lpstr>
      <vt:lpstr>PowerPoint Presentation</vt:lpstr>
      <vt:lpstr>PowerPoint Presentation</vt:lpstr>
      <vt:lpstr>System Analyst (Screen and Data Flow)</vt:lpstr>
      <vt:lpstr>PowerPoint Presentation</vt:lpstr>
      <vt:lpstr>PowerPoint Presentation</vt:lpstr>
      <vt:lpstr>PowerPoint Presentation</vt:lpstr>
      <vt:lpstr>Data Requirements</vt:lpstr>
      <vt:lpstr>Department-Wise Screen Components &amp; Data Symbols </vt:lpstr>
      <vt:lpstr>PowerPoint Presentation</vt:lpstr>
      <vt:lpstr>PowerPoint Presentation</vt:lpstr>
      <vt:lpstr>PowerPoint Presentation</vt:lpstr>
      <vt:lpstr>PowerPoint Presentation</vt:lpstr>
      <vt:lpstr>Example For the Flow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Yuva Harini</dc:creator>
  <cp:lastModifiedBy>Yuva Harini</cp:lastModifiedBy>
  <cp:revision>67</cp:revision>
  <dcterms:created xsi:type="dcterms:W3CDTF">2026-03-14T14:00:08Z</dcterms:created>
  <dcterms:modified xsi:type="dcterms:W3CDTF">2026-03-16T11:25:54Z</dcterms:modified>
</cp:coreProperties>
</file>